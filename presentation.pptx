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2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54864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788BB"/>
                </a:solidFill>
              </a:rPr>
              <a:t>CSc 8810  ·  Computational Intelligence  ·  Georgia State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6AAFF"/>
                </a:solidFill>
              </a:rPr>
              <a:t>FACI-DVRP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Fuzzy-Adaptive Computational Intelligence
for Dynamic Vehicle Routing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697480"/>
            <a:ext cx="4572000" cy="36576"/>
          </a:xfrm>
          <a:prstGeom prst="rect">
            <a:avLst/>
          </a:prstGeom>
          <a:solidFill>
            <a:srgbClr val="44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AADD"/>
                </a:solidFill>
              </a:rPr>
              <a:t>3 CI techniques  ·  Real-time routing  ·  Solomon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BCCFF"/>
                </a:solidFill>
              </a:rPr>
              <a:t>Pranay Kukkadapu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22191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99CC"/>
                </a:solidFill>
              </a:rPr>
              <a:t>Masters in Data Science and Analytics  ·  Georgia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Picture This...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A day in the life of a delivery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75A"/>
                </a:solidFill>
              </a:rPr>
              <a:t>It's 8 AM. Your dispatcher has planned perfect routes for 10 drivers.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74519"/>
            <a:ext cx="2743200" cy="320040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92023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9:15 AM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2743200" cy="2377440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313432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5EAD"/>
                </a:solidFill>
              </a:rPr>
              <a:t>New customer
calls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953511"/>
            <a:ext cx="25237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A last-minute order arrives after trucks have already left.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2" y="1874519"/>
            <a:ext cx="2743200" cy="32004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192023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10:30 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2112" y="2194560"/>
            <a:ext cx="2743200" cy="2377440"/>
          </a:xfrm>
          <a:prstGeom prst="rect">
            <a:avLst/>
          </a:prstGeom>
          <a:solidFill>
            <a:srgbClr val="F0F4FF"/>
          </a:solidFill>
          <a:ln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313432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6A00"/>
                </a:solidFill>
              </a:rPr>
              <a:t>Traffic jam
on Route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953511"/>
            <a:ext cx="25237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An accident blocks the road that 3 drivers are scheduled to use.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1874519"/>
            <a:ext cx="2743200" cy="320040"/>
          </a:xfrm>
          <a:prstGeom prst="rect">
            <a:avLst/>
          </a:prstGeom>
          <a:solidFill>
            <a:srgbClr val="1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192023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11:45 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9904" y="2194560"/>
            <a:ext cx="2743200" cy="2377440"/>
          </a:xfrm>
          <a:prstGeom prst="rect">
            <a:avLst/>
          </a:prstGeom>
          <a:solidFill>
            <a:srgbClr val="F0F4FF"/>
          </a:solidFill>
          <a:ln>
            <a:solidFill>
              <a:srgbClr val="1A6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2313432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A8A"/>
                </a:solidFill>
              </a:rPr>
              <a:t>Heavy rain
begins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953511"/>
            <a:ext cx="25237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Speeds drop 30% across the entire city. Every route is now slower.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63440"/>
            <a:ext cx="8595360" cy="54864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828032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B275A"/>
                </a:solidFill>
              </a:rPr>
              <a:t>What do you do?  You can't ignore it — but you also can't spend 10 minutes recalculating
everything while the driver is waiting on the side of the road.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5669280"/>
            <a:ext cx="5486400" cy="50292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57332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This is the Dynamic Vehicle Routing Problem (DVRP)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Two Obvious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And why both of them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4023360" cy="438912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52728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Option A:  "Just ignore it"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023360" cy="2743200"/>
          </a:xfrm>
          <a:prstGeom prst="rect">
            <a:avLst/>
          </a:prstGeom>
          <a:solidFill>
            <a:srgbClr val="FFF3E0"/>
          </a:solidFill>
          <a:ln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374903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Keep the original plan. Don't update anything.
  ✗  New customers never get served
  ✗  Traffic jams make routes take 2x longer
  ✗  Costs spiral as disruptions pile up
  ✗  0% acceptance rate in our experiment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651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275A"/>
                </a:solidFill>
              </a:rPr>
              <a:t>VS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188720"/>
            <a:ext cx="4023360" cy="438912"/>
          </a:xfrm>
          <a:prstGeom prst="rect">
            <a:avLst/>
          </a:prstGeom>
          <a:solidFill>
            <a:srgbClr val="B8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6048" y="1252728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Option B:  "Rebuild everything"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627632"/>
            <a:ext cx="4023360" cy="2743200"/>
          </a:xfrm>
          <a:prstGeom prst="rect">
            <a:avLst/>
          </a:prstGeom>
          <a:solidFill>
            <a:srgbClr val="FFEEEE"/>
          </a:solidFill>
          <a:ln>
            <a:solidFill>
              <a:srgbClr val="B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1737360"/>
            <a:ext cx="374903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Solve the entire problem from scratch every time.
  ✗  Takes 100 – 400 ms per event (too slow)
  ✗  Drivers get completely new routes mid-trip
  ✗  Route stability collapses to 0.41
  ✗  Impractical in real operations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572000"/>
            <a:ext cx="8595360" cy="54864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4709160"/>
            <a:ext cx="8595360" cy="841248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77316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We need something smarter — fast enough for real-time, good enough to be useful.
That's exactly what FACI-DVRP is built to 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Meet FACI-DVRP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Three CI techniques working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</a:rPr>
              <a:t>Fuzzy-Adaptive Computational Intelligence for Dynamic Vehicle Routing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2763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55555"/>
                </a:solidFill>
              </a:rPr>
              <a:t>BEFORE THE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62763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55555"/>
                </a:solidFill>
              </a:rPr>
              <a:t>WHEN DISRUPTION HITS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2763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55555"/>
                </a:solidFill>
              </a:rPr>
              <a:t>FIX IT (FAST)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65960"/>
            <a:ext cx="3017520" cy="292608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2002536"/>
            <a:ext cx="2871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5EAD"/>
                </a:solidFill>
              </a:rPr>
              <a:t>CI Technique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58568"/>
            <a:ext cx="3017520" cy="566928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13432"/>
            <a:ext cx="2834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Ant Colony
Optimization (ACO)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25496"/>
            <a:ext cx="3017520" cy="1920240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935224"/>
            <a:ext cx="2798063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Inspired by ants finding shortest paths.
Builds high-quality initial routes
before the day starts.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1965960"/>
            <a:ext cx="2286000" cy="292608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2002536"/>
            <a:ext cx="2139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7A3C"/>
                </a:solidFill>
              </a:rPr>
              <a:t>CI Technique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2258568"/>
            <a:ext cx="2286000" cy="56692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231343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Fuzzy Logic
Controller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2825496"/>
            <a:ext cx="2286000" cy="1920240"/>
          </a:xfrm>
          <a:prstGeom prst="rect">
            <a:avLst/>
          </a:prstGeom>
          <a:solidFill>
            <a:srgbClr val="F0F4FF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2935224"/>
            <a:ext cx="2066543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Reasons like a human:
'How severe is this?'
Allocates repair time accordingly.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965960"/>
            <a:ext cx="2880360" cy="292608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2002536"/>
            <a:ext cx="2734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6A00"/>
                </a:solidFill>
              </a:rPr>
              <a:t>CI Technique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258568"/>
            <a:ext cx="2880360" cy="566928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59" y="2313432"/>
            <a:ext cx="26974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2-opt Local
Search + Repair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2825496"/>
            <a:ext cx="2880360" cy="1920240"/>
          </a:xfrm>
          <a:prstGeom prst="rect">
            <a:avLst/>
          </a:prstGeom>
          <a:solidFill>
            <a:srgbClr val="F0F4FF"/>
          </a:solidFill>
          <a:ln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8" y="2935224"/>
            <a:ext cx="266090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Improves routes by trying
smart swaps — within the
time budget given by fuzzy.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4952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275A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01752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275A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983480"/>
            <a:ext cx="8595360" cy="73152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120640"/>
            <a:ext cx="8595360" cy="749808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1846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Key principle: Never rebuild the entire plan. Find what's broken, fix only that — and only spend as much time as the disruption actually deserves.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Exists vs What We Propose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The one new idea — and the building blocks borrowed from prior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4114800" cy="38404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887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EXISTING  (prior work, we use these as tools)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0" cy="2743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63677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</a:rPr>
              <a:t>ACO for VRP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63677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Dorigo &amp; Gambardella, 1997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74519"/>
            <a:ext cx="4114800" cy="749808"/>
          </a:xfrm>
          <a:prstGeom prst="rect">
            <a:avLst/>
          </a:prstGeom>
          <a:solidFill>
            <a:srgbClr val="F0F4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929384"/>
            <a:ext cx="3840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Ants + pheromones build routes.
Well-established metaheuristic.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97480"/>
            <a:ext cx="4114800" cy="2743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73405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</a:rPr>
              <a:t>GA for VRP (comparison)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73405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Vidal et al., Comp. &amp; OR, 2013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71800"/>
            <a:ext cx="4114800" cy="749808"/>
          </a:xfrm>
          <a:prstGeom prst="rect">
            <a:avLst/>
          </a:prstGeom>
          <a:solidFill>
            <a:srgbClr val="F0F4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026664"/>
            <a:ext cx="3840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Used here as a comparison method only.
Not part of the proposed approach.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94760"/>
            <a:ext cx="4114800" cy="2743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83133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</a:rPr>
              <a:t>2-opt local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83133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Lin, 1965 / Applegate et al., 2006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069080"/>
            <a:ext cx="4114800" cy="749808"/>
          </a:xfrm>
          <a:prstGeom prst="rect">
            <a:avLst/>
          </a:prstGeom>
          <a:solidFill>
            <a:srgbClr val="F0F4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123944"/>
            <a:ext cx="3840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Improve routes by swapping
pairs of edges.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892040"/>
            <a:ext cx="4114800" cy="2743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492861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</a:rPr>
              <a:t>Incremental DVRP repair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92861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Pillac et al., EJOR, 2013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166359"/>
            <a:ext cx="4114800" cy="749808"/>
          </a:xfrm>
          <a:prstGeom prst="rect">
            <a:avLst/>
          </a:prstGeom>
          <a:solidFill>
            <a:srgbClr val="F0F4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5221224"/>
            <a:ext cx="3840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Fix only affected routes
instead of full rebuild.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1143000"/>
            <a:ext cx="4114800" cy="38404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11887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PROPOSED  (our novel contribution)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1600200"/>
            <a:ext cx="4114800" cy="54864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1655064"/>
            <a:ext cx="4114800" cy="3931920"/>
          </a:xfrm>
          <a:prstGeom prst="rect">
            <a:avLst/>
          </a:prstGeom>
          <a:solidFill>
            <a:srgbClr val="E4F6E8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175564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7A3C"/>
                </a:solidFill>
              </a:rPr>
              <a:t>Fuzzy Logic Time Budget Controller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2212848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Assigns proportional ceiling per event type:
~35ms for simple events, up to 80ms for
severe weather disruptions.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0175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6A00"/>
                </a:solidFill>
              </a:rPr>
              <a:t>NOT a route optimizer — it allocates repair time, not route quality.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3401568"/>
            <a:ext cx="3749039" cy="36576"/>
          </a:xfrm>
          <a:prstGeom prst="rect">
            <a:avLst/>
          </a:prstGeom>
          <a:solidFill>
            <a:srgbClr val="AAD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351129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Fuzzy-based adaptive repair-budget allocation for DVRP — a policy-driven, interpretable alternative to fixed or threshold budgeting.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92040" y="4005072"/>
            <a:ext cx="3749039" cy="457200"/>
          </a:xfrm>
          <a:prstGeom prst="rect">
            <a:avLst/>
          </a:prstGeom>
          <a:solidFill>
            <a:srgbClr val="FFFFFF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92624" y="40416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new_customer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92624" y="42245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7A3C"/>
                </a:solidFill>
              </a:rPr>
              <a:t>sev=0.25 → 35ms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133087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LOW severity   → less time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92040" y="4517136"/>
            <a:ext cx="3749039" cy="457200"/>
          </a:xfrm>
          <a:prstGeom prst="rect">
            <a:avLst/>
          </a:prstGeom>
          <a:solidFill>
            <a:srgbClr val="FFFFFF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92624" y="45537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traffic_delay ×2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92624" y="473659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7A3C"/>
                </a:solidFill>
              </a:rPr>
              <a:t>sev=0.65 → 61ms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4645151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MED severity  → moderate time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92040" y="5029200"/>
            <a:ext cx="3749039" cy="457200"/>
          </a:xfrm>
          <a:prstGeom prst="rect">
            <a:avLst/>
          </a:prstGeom>
          <a:solidFill>
            <a:srgbClr val="FFFFFF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92624" y="50657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weather ×1.3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92624" y="524865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7A3C"/>
                </a:solidFill>
              </a:rPr>
              <a:t>sev=0.80 → 80ms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515721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HIGH severity → more time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577840"/>
            <a:ext cx="8595360" cy="749808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64184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Prior work applies ACO, GA, and repair operators separately.
FACI-DVRP combines them with a fuzzy budget controller that treats time allocation itself as a CI design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Architecture: FACI-DVRP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How a real-time disruption flows through all three CI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5" y="1645920"/>
            <a:ext cx="1508760" cy="530352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5779" y="1709928"/>
            <a:ext cx="139903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Disruption
Event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5" y="2176272"/>
            <a:ext cx="1508760" cy="777240"/>
          </a:xfrm>
          <a:prstGeom prst="rect">
            <a:avLst/>
          </a:prstGeom>
          <a:solidFill>
            <a:srgbClr val="F0F4FF"/>
          </a:solidFill>
          <a:ln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4923" y="2231136"/>
            <a:ext cx="1380743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</a:rPr>
              <a:t>new_customer
traffic_delay
weather_disruption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7963" y="218998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275A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4268" y="1645920"/>
            <a:ext cx="1508760" cy="530352"/>
          </a:xfrm>
          <a:prstGeom prst="rect">
            <a:avLst/>
          </a:prstGeom>
          <a:solidFill>
            <a:srgbClr val="1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9132" y="1709928"/>
            <a:ext cx="139903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Severity
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4268" y="2176272"/>
            <a:ext cx="1508760" cy="777240"/>
          </a:xfrm>
          <a:prstGeom prst="rect">
            <a:avLst/>
          </a:prstGeom>
          <a:solidFill>
            <a:srgbClr val="F0F4FF"/>
          </a:solidFill>
          <a:ln>
            <a:solidFill>
              <a:srgbClr val="1A6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08275" y="2231136"/>
            <a:ext cx="1380743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</a:rPr>
              <a:t>Compute event
severity [0–1]
from event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1315" y="218998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275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7619" y="1645920"/>
            <a:ext cx="1508760" cy="53035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2483" y="1709928"/>
            <a:ext cx="139903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Mamdani
FIS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7619" y="2176272"/>
            <a:ext cx="1508760" cy="777240"/>
          </a:xfrm>
          <a:prstGeom prst="rect">
            <a:avLst/>
          </a:prstGeom>
          <a:solidFill>
            <a:srgbClr val="F0F4FF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1627" y="2231136"/>
            <a:ext cx="1380743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</a:rPr>
              <a:t>3 rules · triangular MFs
Outputs time ceiling
(35 / 61 / 80 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4667" y="218998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275A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90971" y="1645920"/>
            <a:ext cx="1508760" cy="530352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45835" y="1709928"/>
            <a:ext cx="139903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2-opt +
Relocate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90971" y="2176272"/>
            <a:ext cx="1508760" cy="777240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4979" y="2231136"/>
            <a:ext cx="1380743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</a:rPr>
              <a:t>Repair affected
routes within
the budget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8019" y="218998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275A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64323" y="1645920"/>
            <a:ext cx="1508760" cy="530352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19187" y="1709928"/>
            <a:ext cx="139903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Updated
Route Plan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4323" y="2176272"/>
            <a:ext cx="1508760" cy="777240"/>
          </a:xfrm>
          <a:prstGeom prst="rect">
            <a:avLst/>
          </a:prstGeom>
          <a:solidFill>
            <a:srgbClr val="F0F4FF"/>
          </a:solidFill>
          <a:ln>
            <a:solidFill>
              <a:srgbClr val="1B2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8331" y="2231136"/>
            <a:ext cx="1380743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</a:rPr>
              <a:t>100% acceptance
0.988 stability
2–4 ms latency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44268" y="3063240"/>
            <a:ext cx="1508760" cy="384048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9132" y="3108960"/>
            <a:ext cx="13990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CI #1
ACO 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7619" y="3063240"/>
            <a:ext cx="1508760" cy="38404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72483" y="3108960"/>
            <a:ext cx="13990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CI #2
Fuzzy Logic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90971" y="3063240"/>
            <a:ext cx="1508760" cy="384048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45835" y="3108960"/>
            <a:ext cx="13990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CI #3
2-opt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840480"/>
            <a:ext cx="8595360" cy="329184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Computational complexity per event: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80" y="3895344"/>
            <a:ext cx="6080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DFF"/>
                </a:solidFill>
              </a:rPr>
              <a:t>ACO (offline) — O(n² · n_ants · n_iter)   ·   Fuzzy FIS — O(1) lookup   ·   Best-position insertion — O(K·n)   ·   2-opt per route — O(m²) where m = route length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315968"/>
            <a:ext cx="2029968" cy="329184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4370831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Event-driven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645152"/>
            <a:ext cx="2029968" cy="822960"/>
          </a:xfrm>
          <a:prstGeom prst="rect">
            <a:avLst/>
          </a:prstGeom>
          <a:solidFill>
            <a:srgbClr val="F0F4FF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700016"/>
            <a:ext cx="18653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Repair only triggered
by actual disruptions
— zero idle overhead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79" y="4315968"/>
            <a:ext cx="2029968" cy="329184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42032" y="4370831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Warm-start reuse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68879" y="4645152"/>
            <a:ext cx="2029968" cy="822960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0" y="4700016"/>
            <a:ext cx="18653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Existing routes are
kept; only affected
portions are repaired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40" y="4315968"/>
            <a:ext cx="2029968" cy="32918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36592" y="4370831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Budget-bounded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63440" y="4645152"/>
            <a:ext cx="2029968" cy="822960"/>
          </a:xfrm>
          <a:prstGeom prst="rect">
            <a:avLst/>
          </a:prstGeom>
          <a:solidFill>
            <a:srgbClr val="F0F4FF"/>
          </a:solidFill>
          <a:ln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79" y="4700016"/>
            <a:ext cx="18653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Fuzzy ceiling ensures
worst-case latency
remains predictable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7999" y="4315968"/>
            <a:ext cx="2029968" cy="329184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31151" y="4370831"/>
            <a:ext cx="1901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Proportional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7999" y="4645152"/>
            <a:ext cx="2029968" cy="822960"/>
          </a:xfrm>
          <a:prstGeom prst="rect">
            <a:avLst/>
          </a:prstGeom>
          <a:solidFill>
            <a:srgbClr val="F0F4FF"/>
          </a:solidFill>
          <a:ln>
            <a:solidFill>
              <a:srgbClr val="1B2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39" y="4700016"/>
            <a:ext cx="18653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Simple events get
tight budgets; severe
disruptions get more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596128"/>
            <a:ext cx="8595360" cy="475488"/>
          </a:xfrm>
          <a:prstGeom prst="rect">
            <a:avLst/>
          </a:prstGeom>
          <a:solidFill>
            <a:srgbClr val="F0F4FF"/>
          </a:solidFill>
          <a:ln>
            <a:solidFill>
              <a:srgbClr val="1B2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6692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275A"/>
                </a:solidFill>
              </a:rPr>
              <a:t>ACO runs ONCE offline before the day starts — all real-time work is Severity→FIS→Repair, completing in 2–4 ms per event on n=100 instances.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Technique 1: Ant Colony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How ant colonies inspire better route 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8595360" cy="54864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B275A"/>
                </a:solidFill>
              </a:rPr>
              <a:t>Real ants find the shortest path to food by laying pheromone trails — the more ants use a path, the stronger the trail, and the more ants follow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2743200" cy="420624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933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Step 1:  Send out the 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40864"/>
            <a:ext cx="2743200" cy="1965960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468880"/>
            <a:ext cx="25237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10 virtual ants each build a complete
routing plan from scratch, choosing
customers probabilistically based on
distance and pheromone strength.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920240"/>
            <a:ext cx="2743200" cy="420624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9933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Step 2:  Reward the good paths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2340864"/>
            <a:ext cx="2743200" cy="1965960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28416" y="2468880"/>
            <a:ext cx="25237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After each round, the best solution
gets extra pheromone deposited on
its edges — making those paths more
likely to be chosen next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1920240"/>
            <a:ext cx="2743200" cy="420624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9933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Step 3:  Evaporate the bad ones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2340864"/>
            <a:ext cx="2743200" cy="1965960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2468880"/>
            <a:ext cx="25237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All pheromone slowly fades (rate 0.5).
Paths that aren't reinforced disappear.
The colony converges on the best
routes over 20 iterations.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51960"/>
            <a:ext cx="5029200" cy="347472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42976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Selection formula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99432"/>
            <a:ext cx="5029200" cy="566928"/>
          </a:xfrm>
          <a:prstGeom prst="rect">
            <a:avLst/>
          </a:prstGeom>
          <a:solidFill>
            <a:srgbClr val="F0F4FF"/>
          </a:solidFill>
          <a:ln>
            <a:solidFill>
              <a:srgbClr val="1B2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6817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P(next customer j)  ∝  τ[i,j]^α  ×  (1/distance)^β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4251960"/>
            <a:ext cx="3383280" cy="91440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96128" y="4315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Result on C101 benchmark: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460857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CCFF"/>
                </a:solidFill>
              </a:rPr>
              <a:t>High-quality starting plan built
before any dynamic event occurs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035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75A"/>
                </a:solidFill>
              </a:rPr>
              <a:t>ACO gives us a strong starting point — so online repairs only need to fix small problems.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Technique 2: Fuzzy Logic — Adaptive Control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Maps disruption severity to repair time ceiling — proportional, interpretable, threshold-free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4023360" cy="310896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79576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Design: 3 rules · triangular MFs · Mamdani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023360" cy="1920240"/>
          </a:xfrm>
          <a:prstGeom prst="rect">
            <a:avLst/>
          </a:prstGeom>
          <a:solidFill>
            <a:srgbClr val="F0F4FF"/>
          </a:solidFill>
          <a:ln>
            <a:solidFill>
              <a:srgbClr val="1B2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36192"/>
            <a:ext cx="384048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Why triangular MFs?
  · Simplest shape with a clear peak — easy
    to interpret and tune by domain experts.
  · Standard choice for Mamdani FIS.
Why only 3 rules?
  · Occam's razor: 3 linguistic categories
    (LOW / MED / HIGH) cover the severity
    range with minimal complexity.
  · More rules → over-fitting to one event mix.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401568"/>
            <a:ext cx="4023360" cy="27432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42900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Severity → budget (continuous, not threshold)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675887"/>
            <a:ext cx="4023360" cy="1609344"/>
          </a:xfrm>
          <a:prstGeom prst="rect">
            <a:avLst/>
          </a:prstGeom>
          <a:solidFill>
            <a:srgbClr val="F0F4FF"/>
          </a:solidFill>
          <a:ln>
            <a:solidFill>
              <a:srgbClr val="1B2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3749039"/>
            <a:ext cx="38404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budget
 80ms ┤                         ╱‾‾‾
 61ms ┤               ╱‾‾╲
 35ms ┤  ‾‾‾╲
      └──────┼──────┼──────▶  severity
            0.3    0.6    1.0
Weighted-average defuzz → smooth curve
(no discontinuity at threshold boundaries)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143000"/>
            <a:ext cx="4389120" cy="292608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18872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Rule 1 — LOW severity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435608"/>
            <a:ext cx="43891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490472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5EAD"/>
                </a:solidFill>
              </a:rPr>
              <a:t>IF sev &lt; 0.3  →  TIGHT   (30–40 ms)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1947672"/>
            <a:ext cx="4389120" cy="512064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002536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new_customer: insert 1 stop.
Minimal repair needed.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569464"/>
            <a:ext cx="4389120" cy="29260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615184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Rule 2 — MED severity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2862072"/>
            <a:ext cx="43891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916936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7A3C"/>
                </a:solidFill>
              </a:rPr>
              <a:t>IF sev ≈ 0.5  →  NORMAL  (~50 ms)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3374136"/>
            <a:ext cx="4389120" cy="512064"/>
          </a:xfrm>
          <a:prstGeom prst="rect">
            <a:avLst/>
          </a:prstGeom>
          <a:solidFill>
            <a:srgbClr val="F0F4FF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42900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traffic_delay ×2: re-route
affected segments.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3995928"/>
            <a:ext cx="4389120" cy="292608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041648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Rule 3 — HIGH severity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4288536"/>
            <a:ext cx="43891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34340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6A00"/>
                </a:solidFill>
              </a:rPr>
              <a:t>IF sev &gt; 0.7  →  EXTENDED (80 ms)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4800600"/>
            <a:ext cx="4389120" cy="512064"/>
          </a:xfrm>
          <a:prstGeom prst="rect">
            <a:avLst/>
          </a:prstGeom>
          <a:solidFill>
            <a:srgbClr val="F0F4FF"/>
          </a:solidFill>
          <a:ln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855464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weather ×1.3: 2-opt all routes.
Maximum repair budget.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321808"/>
            <a:ext cx="8595360" cy="73152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3675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This is an adaptive control policy — not a route optimizer.
It decides HOW MUCH time to give the repair algorithm per event.
At n=100 the ceiling is non-binding (repair takes 2–4 ms). At larger scale, proportional allocation matters.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CI Technique 3: 2-opt Local Search + Repair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The component that drives ALL cost improvement — proven by ablation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8595360" cy="45720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1615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Ablation result: adding fuzzy budget alone → Δ cost = 0.  Adding 2-opt → 7–14% cost reduction.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19072"/>
            <a:ext cx="4160520" cy="32918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764792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How 2-opt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48256"/>
            <a:ext cx="4160520" cy="2468880"/>
          </a:xfrm>
          <a:prstGeom prst="rect">
            <a:avLst/>
          </a:prstGeom>
          <a:solidFill>
            <a:srgbClr val="F0F4FF"/>
          </a:solidFill>
          <a:ln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" y="2139696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</a:rPr>
              <a:t>Given a route  [A → B → C → D → E → depot]
Try reversing every sub-segment:
  [A → C → B → D → E]  — shorter?
  [A → B → D → C → E]  — shorter?
  ...all (i, k) pairs...
Accept the best swap that reduces
total route distance.
Repeat until no improving swap exists
OR the fuzzy time budget expires.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275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719072"/>
            <a:ext cx="3931920" cy="329184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176479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Cross-route relocate (bonus operator)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2048256"/>
            <a:ext cx="3931920" cy="2468880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2139696"/>
            <a:ext cx="37490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</a:rPr>
              <a:t>After 2-opt, try moving one customer
from their current route to a better
position in a different route:
  Route 1: [A → B → C]  remove B
  Route 2: [D → E]  insert B → [D → B → E]
Accept if total cost decreases AND
capacity constraints still satisfied.
Causes stability = 0.988 (not 1.000) —
the occasional inter-vehicle swap.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45152"/>
            <a:ext cx="8595360" cy="329184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69087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When does repair run?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010912"/>
            <a:ext cx="2743200" cy="420624"/>
          </a:xfrm>
          <a:prstGeom prst="rect">
            <a:avLst/>
          </a:prstGeom>
          <a:solidFill>
            <a:srgbClr val="EEF3FF"/>
          </a:solidFill>
          <a:ln>
            <a:solidFill>
              <a:srgbClr val="1B2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0474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B275A"/>
                </a:solidFill>
              </a:rPr>
              <a:t>new_customer
arrives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431536"/>
            <a:ext cx="2743200" cy="658368"/>
          </a:xfrm>
          <a:prstGeom prst="rect">
            <a:avLst/>
          </a:prstGeom>
          <a:solidFill>
            <a:srgbClr val="F0F4FF"/>
          </a:solidFill>
          <a:ln>
            <a:solidFill>
              <a:srgbClr val="1B2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468112"/>
            <a:ext cx="2560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A1A1A"/>
                </a:solidFill>
              </a:rPr>
              <a:t>Insert at best position
+ one cross-route relocate
within fuzzy budget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18688" y="5010912"/>
            <a:ext cx="2743200" cy="420624"/>
          </a:xfrm>
          <a:prstGeom prst="rect">
            <a:avLst/>
          </a:prstGeom>
          <a:solidFill>
            <a:srgbClr val="EEF3FF"/>
          </a:solidFill>
          <a:ln>
            <a:solidFill>
              <a:srgbClr val="1B2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128" y="50474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B275A"/>
                </a:solidFill>
              </a:rPr>
              <a:t>traffic_delay
on a segment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18688" y="5431536"/>
            <a:ext cx="2743200" cy="658368"/>
          </a:xfrm>
          <a:prstGeom prst="rect">
            <a:avLst/>
          </a:prstGeom>
          <a:solidFill>
            <a:srgbClr val="F0F4FF"/>
          </a:solidFill>
          <a:ln>
            <a:solidFill>
              <a:srgbClr val="1B2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0128" y="5468112"/>
            <a:ext cx="2560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A1A1A"/>
                </a:solidFill>
              </a:rPr>
              <a:t>2-opt on affected routes
only — within fuzzy budget
(targeted repair)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5010912"/>
            <a:ext cx="2743200" cy="420624"/>
          </a:xfrm>
          <a:prstGeom prst="rect">
            <a:avLst/>
          </a:prstGeom>
          <a:solidFill>
            <a:srgbClr val="EEF3FF"/>
          </a:solidFill>
          <a:ln>
            <a:solidFill>
              <a:srgbClr val="1B2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50474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B275A"/>
                </a:solidFill>
              </a:rPr>
              <a:t>weather_disruption
(global)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3056" y="5431536"/>
            <a:ext cx="2743200" cy="658368"/>
          </a:xfrm>
          <a:prstGeom prst="rect">
            <a:avLst/>
          </a:prstGeom>
          <a:solidFill>
            <a:srgbClr val="F0F4FF"/>
          </a:solidFill>
          <a:ln>
            <a:solidFill>
              <a:srgbClr val="1B2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5468112"/>
            <a:ext cx="2560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A1A1A"/>
                </a:solidFill>
              </a:rPr>
              <a:t>2-opt on ALL non-empty
routes + cross-route relocate
within fuzzy budget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GA Constructor: Comparison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Used as an alternative initial constructor to benchmark against ACO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B275A"/>
                </a:solidFill>
              </a:rPr>
              <a:t>Just like biological evolution — start with random solutions, mix the best ones, mutate slightly, repeat. The fittest routes survive.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828800"/>
            <a:ext cx="1554480" cy="347472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188366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1. 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176272"/>
            <a:ext cx="1554480" cy="1371600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286000"/>
            <a:ext cx="14173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30 random
route orderings
(chromosomes)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8" y="2487168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75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1828800"/>
            <a:ext cx="1554480" cy="347472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39112" y="188366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2. Select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2176272"/>
            <a:ext cx="1554480" cy="1371600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2286000"/>
            <a:ext cx="14173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Pick the best 2
via tournament
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487168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75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1828800"/>
            <a:ext cx="1554480" cy="347472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188366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3. Crossover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3320" y="2176272"/>
            <a:ext cx="1554480" cy="1371600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59" y="2286000"/>
            <a:ext cx="14173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Mix them with
Order Crossover
(OX operator)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2487168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75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40679" y="1828800"/>
            <a:ext cx="1554480" cy="347472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13831" y="188366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4. Mutate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79" y="2176272"/>
            <a:ext cx="1554480" cy="1371600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19" y="2286000"/>
            <a:ext cx="14173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Randomly swap
2 stops (15%
chance)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7" y="2487168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75A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1828800"/>
            <a:ext cx="1554480" cy="347472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51192" y="188366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5. Keep best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2176272"/>
            <a:ext cx="1554480" cy="1371600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79" y="2286000"/>
            <a:ext cx="14173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Top route always
survives to
next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639312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Repeat for 50 generations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069080"/>
            <a:ext cx="8595360" cy="347472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41148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ACO vs GA  —  How do they compare on C101?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480560"/>
            <a:ext cx="2697480" cy="347472"/>
          </a:xfrm>
          <a:prstGeom prst="rect">
            <a:avLst/>
          </a:prstGeom>
          <a:solidFill>
            <a:srgbClr val="1B275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453542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3108960" y="4480560"/>
            <a:ext cx="2880360" cy="347472"/>
          </a:xfrm>
          <a:prstGeom prst="rect">
            <a:avLst/>
          </a:prstGeom>
          <a:solidFill>
            <a:srgbClr val="1B275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82112" y="453542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ACO + Fuzzy + Repair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4480560"/>
            <a:ext cx="2697480" cy="347472"/>
          </a:xfrm>
          <a:prstGeom prst="rect">
            <a:avLst/>
          </a:prstGeom>
          <a:solidFill>
            <a:srgbClr val="1B275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9632" y="453542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GA + Fuzzy + Repair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864608"/>
            <a:ext cx="2697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" y="49194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Final cost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08960" y="4864608"/>
            <a:ext cx="2880360" cy="347472"/>
          </a:xfrm>
          <a:prstGeom prst="rect">
            <a:avLst/>
          </a:prstGeom>
          <a:solidFill>
            <a:srgbClr val="E8F0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82112" y="491947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5EAD"/>
                </a:solidFill>
              </a:rPr>
              <a:t>1988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4864608"/>
            <a:ext cx="2697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49194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2426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248656"/>
            <a:ext cx="2697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530352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Avg latency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08960" y="5248656"/>
            <a:ext cx="2880360" cy="347472"/>
          </a:xfrm>
          <a:prstGeom prst="rect">
            <a:avLst/>
          </a:prstGeom>
          <a:solidFill>
            <a:srgbClr val="E8F0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82112" y="53035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5EAD"/>
                </a:solidFill>
              </a:rPr>
              <a:t>2.4 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5248656"/>
            <a:ext cx="2697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99632" y="530352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2.4 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632704"/>
            <a:ext cx="2697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7472" y="568756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Acceptance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08960" y="5632704"/>
            <a:ext cx="2880360" cy="347472"/>
          </a:xfrm>
          <a:prstGeom prst="rect">
            <a:avLst/>
          </a:prstGeom>
          <a:solidFill>
            <a:srgbClr val="E8F0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82112" y="568756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5EAD"/>
                </a:solidFill>
              </a:rPr>
              <a:t>100%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5632704"/>
            <a:ext cx="2697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99632" y="568756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100%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6016752"/>
            <a:ext cx="2697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7472" y="607161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Stability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08960" y="6016752"/>
            <a:ext cx="2880360" cy="347472"/>
          </a:xfrm>
          <a:prstGeom prst="rect">
            <a:avLst/>
          </a:prstGeom>
          <a:solidFill>
            <a:srgbClr val="E8F0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82112" y="607161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5EAD"/>
                </a:solidFill>
              </a:rPr>
              <a:t>0.988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6016752"/>
            <a:ext cx="2697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99632" y="607161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0.988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CI Constructor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ACO+Fuzzy outperforms GA+Fuzzy on cost — across all three instance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8595360" cy="475488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ACO+Fuzzy  vs  GA+Fuzzy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2157984" cy="347472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79222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Instance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79" y="1737360"/>
            <a:ext cx="1792224" cy="347472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599" y="1792224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ACO+Fuzzy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737360"/>
            <a:ext cx="1792224" cy="347472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792224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GA+Fuzzy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79" y="1737360"/>
            <a:ext cx="2889504" cy="347472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199" y="179222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Difference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084831"/>
            <a:ext cx="2157984" cy="384048"/>
          </a:xfrm>
          <a:prstGeom prst="rect">
            <a:avLst/>
          </a:prstGeom>
          <a:solidFill>
            <a:srgbClr val="D8EDD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15798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</a:rPr>
              <a:t>C101  (clustered)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79" y="2084831"/>
            <a:ext cx="1792224" cy="384048"/>
          </a:xfrm>
          <a:prstGeom prst="rect">
            <a:avLst/>
          </a:prstGeom>
          <a:solidFill>
            <a:srgbClr val="D8EDD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599" y="215798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</a:rPr>
              <a:t>1988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2084831"/>
            <a:ext cx="1792224" cy="384048"/>
          </a:xfrm>
          <a:prstGeom prst="rect">
            <a:avLst/>
          </a:prstGeom>
          <a:solidFill>
            <a:srgbClr val="D8EDD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399" y="215798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</a:rPr>
              <a:t>2426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2084831"/>
            <a:ext cx="2889504" cy="384048"/>
          </a:xfrm>
          <a:prstGeom prst="rect">
            <a:avLst/>
          </a:prstGeom>
          <a:solidFill>
            <a:srgbClr val="D8EDD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199" y="215798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7A3C"/>
                </a:solidFill>
              </a:rPr>
              <a:t>18% cheaper  (ACO wins)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05456"/>
            <a:ext cx="2157984" cy="384048"/>
          </a:xfrm>
          <a:prstGeom prst="rect">
            <a:avLst/>
          </a:prstGeom>
          <a:solidFill>
            <a:srgbClr val="F2F8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578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R101  (random)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79" y="2505456"/>
            <a:ext cx="1792224" cy="384048"/>
          </a:xfrm>
          <a:prstGeom prst="rect">
            <a:avLst/>
          </a:prstGeom>
          <a:solidFill>
            <a:srgbClr val="F2F8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599" y="25786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1698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79" y="2505456"/>
            <a:ext cx="1792224" cy="384048"/>
          </a:xfrm>
          <a:prstGeom prst="rect">
            <a:avLst/>
          </a:prstGeom>
          <a:solidFill>
            <a:srgbClr val="F2F8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399" y="25786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2167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79" y="2505456"/>
            <a:ext cx="2889504" cy="384048"/>
          </a:xfrm>
          <a:prstGeom prst="rect">
            <a:avLst/>
          </a:prstGeom>
          <a:solidFill>
            <a:srgbClr val="F2F8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199" y="25786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7A3C"/>
                </a:solidFill>
              </a:rPr>
              <a:t>22% cheaper  (ACO wins)  ← consistent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926079"/>
            <a:ext cx="2157984" cy="384048"/>
          </a:xfrm>
          <a:prstGeom prst="rect">
            <a:avLst/>
          </a:prstGeom>
          <a:solidFill>
            <a:srgbClr val="F2F8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9992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RC101 (mixed)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79" y="2926079"/>
            <a:ext cx="1792224" cy="384048"/>
          </a:xfrm>
          <a:prstGeom prst="rect">
            <a:avLst/>
          </a:prstGeom>
          <a:solidFill>
            <a:srgbClr val="F2F8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14599" y="299923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2135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79" y="2926079"/>
            <a:ext cx="1792224" cy="384048"/>
          </a:xfrm>
          <a:prstGeom prst="rect">
            <a:avLst/>
          </a:prstGeom>
          <a:solidFill>
            <a:srgbClr val="F2F8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399" y="299923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2635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79" y="2926079"/>
            <a:ext cx="2889504" cy="384048"/>
          </a:xfrm>
          <a:prstGeom prst="rect">
            <a:avLst/>
          </a:prstGeom>
          <a:solidFill>
            <a:srgbClr val="F2F8F2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199" y="29992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7A3C"/>
                </a:solidFill>
              </a:rPr>
              <a:t>19% cheaper  (ACO wins)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401568"/>
            <a:ext cx="8595360" cy="347472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345643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Why does ACO win on cost?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749039"/>
            <a:ext cx="8595360" cy="1261872"/>
          </a:xfrm>
          <a:prstGeom prst="rect">
            <a:avLst/>
          </a:prstGeom>
          <a:solidFill>
            <a:srgbClr val="F0F4FF"/>
          </a:solidFill>
          <a:ln>
            <a:solidFill>
              <a:srgbClr val="1B2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3822191"/>
            <a:ext cx="82753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ACO runs 10 ants x 20 iterations = 200 construction passes, with pheromone reinforcement guiding each ant toward high-quality arcs discovered by previous ants. This spatial memory accumulation is highly effective for VRPTW instances.
GA's greedy capacity-split decoder assigns customers to routes in permutation order — which may not align with geographic clusters. OX crossover preserves relative ordering within the permutation, but the split-decoder interpretation limits meaningful exploitation.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102352"/>
            <a:ext cx="8595360" cy="713232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193792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ACO constructor outperforms GA on cost across all instances.
Fuzzy budget provides interpretable allocation policy — not a guaranteed cost advantage over fixed or threshold budgets.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Dataset: Solomon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Gold standard for VRP research since 1987 — used in every major routing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275A"/>
                </a:solidFill>
              </a:rPr>
              <a:t>100 customers on a 2D map. Each customer has a location (x, y) and a demand (cargo size). One depot. Fleet of 25 vehicles, each with capacity 200.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64208"/>
            <a:ext cx="2743200" cy="347472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190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C101  —  Clustered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11680"/>
            <a:ext cx="2743200" cy="804672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084832"/>
            <a:ext cx="2523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Customers grouped
in geographic pockets
(like city neighborhoods)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16352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871216"/>
            <a:ext cx="2523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5EAD"/>
                </a:solidFill>
              </a:rPr>
              <a:t>100 customers
Avg demand: 18.1
Total demand: 1810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474720"/>
            <a:ext cx="2743200" cy="548640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3529584"/>
            <a:ext cx="25237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</a:rPr>
              <a:t>Best case for ACO —
pheromone captures
cluster structure well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1664208"/>
            <a:ext cx="2743200" cy="34747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17190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R101  —  Random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8688" y="2011680"/>
            <a:ext cx="2743200" cy="804672"/>
          </a:xfrm>
          <a:prstGeom prst="rect">
            <a:avLst/>
          </a:prstGeom>
          <a:solidFill>
            <a:srgbClr val="F0F4FF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28416" y="2084832"/>
            <a:ext cx="2523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Customers uniformly
scattered across
the 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18688" y="2816352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28416" y="2871216"/>
            <a:ext cx="2523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7A3C"/>
                </a:solidFill>
              </a:rPr>
              <a:t>100 customers
Avg demand: 14.6
Total demand: 1458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3474720"/>
            <a:ext cx="2743200" cy="548640"/>
          </a:xfrm>
          <a:prstGeom prst="rect">
            <a:avLst/>
          </a:prstGeom>
          <a:solidFill>
            <a:srgbClr val="F0F4FF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3529584"/>
            <a:ext cx="25237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</a:rPr>
              <a:t>Hardest for routing —
no obvious clusters
to exploit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1664208"/>
            <a:ext cx="2743200" cy="347472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17190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RC101  —  Mixed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3056" y="2011680"/>
            <a:ext cx="2743200" cy="804672"/>
          </a:xfrm>
          <a:prstGeom prst="rect">
            <a:avLst/>
          </a:prstGeom>
          <a:solidFill>
            <a:srgbClr val="F0F4FF"/>
          </a:solidFill>
          <a:ln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2084832"/>
            <a:ext cx="2523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Some clusters +
some random scatter
(suburban-style)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2816352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72784" y="2871216"/>
            <a:ext cx="2523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46A00"/>
                </a:solidFill>
              </a:rPr>
              <a:t>100 customers
Avg demand: 17.2
Total demand: 1724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3056" y="3474720"/>
            <a:ext cx="2743200" cy="548640"/>
          </a:xfrm>
          <a:prstGeom prst="rect">
            <a:avLst/>
          </a:prstGeom>
          <a:solidFill>
            <a:srgbClr val="F0F4FF"/>
          </a:solidFill>
          <a:ln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3529584"/>
            <a:ext cx="25237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</a:rPr>
              <a:t>Intermediate —
partial structure
for heuristics to use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160520"/>
            <a:ext cx="8595360" cy="310896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20624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How we use it in the dynamic simulation: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5720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75A"/>
                </a:solidFill>
              </a:rPr>
              <a:t>70 customers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57200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known at start → ACO builds initial routes offline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8828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75A"/>
                </a:solidFill>
              </a:rPr>
              <a:t>30 customers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488289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arrive dynamically one by one → 30 new_customer events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1937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75A"/>
                </a:solidFill>
              </a:rPr>
              <a:t>+ 2 events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519379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1 traffic delay (factor 2.0×)  +  1 weather disruption (factor 1.3×)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5046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75A"/>
                </a:solidFill>
              </a:rPr>
              <a:t>= 32 events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550468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per run · seed=42 · same stream for all 6 methods (fair comparison)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888736"/>
            <a:ext cx="8595360" cy="256032"/>
          </a:xfrm>
          <a:prstGeom prst="rect">
            <a:avLst/>
          </a:prstGeom>
          <a:solidFill>
            <a:srgbClr val="F0F4FF"/>
          </a:solidFill>
          <a:ln>
            <a:solidFill>
              <a:srgbClr val="1B2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91616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B275A"/>
                </a:solidFill>
              </a:rPr>
              <a:t>Three representative instances — different customer distributions — let us check whether findings hold across problem structures.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We Tested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32 events per run · 3 instance types · 6 methods · seed=42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275A"/>
                </a:solidFill>
              </a:rPr>
              <a:t>Each Solomon instance (C101 / R101 / RC101) runs the same dynamic simulation: 70 known customers at start, 30 arriving dynamically, plus 2 disruption events.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2011680" cy="310896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874519"/>
            <a:ext cx="18745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Start of 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39696"/>
            <a:ext cx="2011680" cy="960120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231136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5EAD"/>
                </a:solidFill>
              </a:rPr>
              <a:t>70 customers
known upfront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99815"/>
            <a:ext cx="2011680" cy="804672"/>
          </a:xfrm>
          <a:prstGeom prst="rect">
            <a:avLst/>
          </a:prstGeom>
          <a:solidFill>
            <a:srgbClr val="E0E8F8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182112"/>
            <a:ext cx="18745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ACO builds the
initial route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50591" y="1828800"/>
            <a:ext cx="2011680" cy="310896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3744" y="1874519"/>
            <a:ext cx="18745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Event 1 (×30)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50591" y="2139696"/>
            <a:ext cx="2011680" cy="960120"/>
          </a:xfrm>
          <a:prstGeom prst="rect">
            <a:avLst/>
          </a:prstGeom>
          <a:solidFill>
            <a:srgbClr val="F0F4FF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2032" y="2231136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7A3C"/>
                </a:solidFill>
              </a:rPr>
              <a:t>New customer
arrives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50591" y="3099815"/>
            <a:ext cx="2011680" cy="804672"/>
          </a:xfrm>
          <a:prstGeom prst="rect">
            <a:avLst/>
          </a:prstGeom>
          <a:solidFill>
            <a:srgbClr val="E0E8F8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42032" y="3182112"/>
            <a:ext cx="18745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Fuzzy → 35ms ceiling.
Insertion heuristic.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1828800"/>
            <a:ext cx="2011680" cy="310896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0016" y="1874519"/>
            <a:ext cx="18745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Event 31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26864" y="2139696"/>
            <a:ext cx="2011680" cy="960120"/>
          </a:xfrm>
          <a:prstGeom prst="rect">
            <a:avLst/>
          </a:prstGeom>
          <a:solidFill>
            <a:srgbClr val="F0F4FF"/>
          </a:solidFill>
          <a:ln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8303" y="2231136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6A00"/>
                </a:solidFill>
              </a:rPr>
              <a:t>Traffic delay
(factor 2.0×)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26864" y="3099815"/>
            <a:ext cx="2011680" cy="804672"/>
          </a:xfrm>
          <a:prstGeom prst="rect">
            <a:avLst/>
          </a:prstGeom>
          <a:solidFill>
            <a:srgbClr val="E0E8F8"/>
          </a:solidFill>
          <a:ln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3" y="3182112"/>
            <a:ext cx="18745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Fuzzy → 61ms ceiling.
2-opt on affected routes.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03136" y="1828800"/>
            <a:ext cx="2011680" cy="310896"/>
          </a:xfrm>
          <a:prstGeom prst="rect">
            <a:avLst/>
          </a:prstGeom>
          <a:solidFill>
            <a:srgbClr val="1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1874519"/>
            <a:ext cx="18745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Event 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03136" y="2139696"/>
            <a:ext cx="2011680" cy="960120"/>
          </a:xfrm>
          <a:prstGeom prst="rect">
            <a:avLst/>
          </a:prstGeom>
          <a:solidFill>
            <a:srgbClr val="F0F4FF"/>
          </a:solidFill>
          <a:ln>
            <a:solidFill>
              <a:srgbClr val="1A6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94575" y="2231136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6A8A"/>
                </a:solidFill>
              </a:rPr>
              <a:t>Weather disruption
(factor 1.3×)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03136" y="3099815"/>
            <a:ext cx="2011680" cy="804672"/>
          </a:xfrm>
          <a:prstGeom prst="rect">
            <a:avLst/>
          </a:prstGeom>
          <a:solidFill>
            <a:srgbClr val="E0E8F8"/>
          </a:solidFill>
          <a:ln>
            <a:solidFill>
              <a:srgbClr val="1A6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5" y="3182112"/>
            <a:ext cx="18745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Fuzzy → 80ms ceiling.
2-opt on ALL routes.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160520"/>
            <a:ext cx="1572768" cy="77724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206240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654296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BCCFF"/>
                </a:solidFill>
              </a:rPr>
              <a:t>Total events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79" y="4160520"/>
            <a:ext cx="1572768" cy="77724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11679" y="4206240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79" y="4654296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BCCFF"/>
                </a:solidFill>
              </a:rPr>
              <a:t>Dynamic customers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39" y="4160520"/>
            <a:ext cx="1572768" cy="77724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39" y="4206240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4654296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BCCFF"/>
                </a:solidFill>
              </a:rPr>
              <a:t>Disruption events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399" y="4160520"/>
            <a:ext cx="1572768" cy="77724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399" y="4206240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399" y="4654296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BCCFF"/>
                </a:solidFill>
              </a:rPr>
              <a:t>Vehicles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59" y="4160520"/>
            <a:ext cx="1572768" cy="77724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23759" y="4206240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59" y="4654296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BCCFF"/>
                </a:solidFill>
              </a:rPr>
              <a:t>Methods compared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084064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All 6 methods run on the exact same event stream with the same random seed (42) — ensuring a perfectly fair comparison.  Solomon instances used without enforcing time windows (capacity constraints only).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559612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75A"/>
                </a:solidFill>
              </a:rPr>
              <a:t>Seed: 42  ·  Base budget: 50ms  ·  Dynamic ratio: 30%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C101 · R101 · RC101  ·  32 events each  ·  seed=42  ·  6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2340864" cy="3657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1207008"/>
            <a:ext cx="2304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170432"/>
            <a:ext cx="1060704" cy="3657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88336" y="1207008"/>
            <a:ext cx="1024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C101
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170432"/>
            <a:ext cx="1060704" cy="3657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85615" y="1207008"/>
            <a:ext cx="1024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R101
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170432"/>
            <a:ext cx="1060704" cy="3657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82896" y="1207008"/>
            <a:ext cx="1024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RC101
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170432"/>
            <a:ext cx="2889504" cy="3657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0176" y="1207008"/>
            <a:ext cx="2852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Stability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36192"/>
            <a:ext cx="2340864" cy="292608"/>
          </a:xfrm>
          <a:prstGeom prst="rect">
            <a:avLst/>
          </a:prstGeom>
          <a:solidFill>
            <a:srgbClr val="E8F0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" y="1581912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</a:rPr>
              <a:t>FACI-DVRP (ACO+Fuzzy)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536192"/>
            <a:ext cx="1060704" cy="292608"/>
          </a:xfrm>
          <a:prstGeom prst="rect">
            <a:avLst/>
          </a:prstGeom>
          <a:solidFill>
            <a:srgbClr val="D8EDD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88336" y="1581912"/>
            <a:ext cx="1024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A7A3C"/>
                </a:solidFill>
              </a:rPr>
              <a:t>1988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1536192"/>
            <a:ext cx="1060704" cy="292608"/>
          </a:xfrm>
          <a:prstGeom prst="rect">
            <a:avLst/>
          </a:prstGeom>
          <a:solidFill>
            <a:srgbClr val="D8EDD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85615" y="1581912"/>
            <a:ext cx="1024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A7A3C"/>
                </a:solidFill>
              </a:rPr>
              <a:t>1698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1536192"/>
            <a:ext cx="1060704" cy="292608"/>
          </a:xfrm>
          <a:prstGeom prst="rect">
            <a:avLst/>
          </a:prstGeom>
          <a:solidFill>
            <a:srgbClr val="D8EDD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82896" y="1581912"/>
            <a:ext cx="1024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A7A3C"/>
                </a:solidFill>
              </a:rPr>
              <a:t>2135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536192"/>
            <a:ext cx="2889504" cy="292608"/>
          </a:xfrm>
          <a:prstGeom prst="rect">
            <a:avLst/>
          </a:prstGeom>
          <a:solidFill>
            <a:srgbClr val="E8F0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0176" y="1581912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A1A1A"/>
                </a:solidFill>
              </a:rPr>
              <a:t>0.988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865376"/>
            <a:ext cx="2340864" cy="292608"/>
          </a:xfrm>
          <a:prstGeom prst="rect">
            <a:avLst/>
          </a:prstGeom>
          <a:solidFill>
            <a:srgbClr val="F4F4F4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" y="1911095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ACO+Threshold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1865376"/>
            <a:ext cx="1060704" cy="292608"/>
          </a:xfrm>
          <a:prstGeom prst="rect">
            <a:avLst/>
          </a:prstGeom>
          <a:solidFill>
            <a:srgbClr val="D8EDD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88336" y="1911095"/>
            <a:ext cx="1024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7A3C"/>
                </a:solidFill>
              </a:rPr>
              <a:t>1988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1865376"/>
            <a:ext cx="1060704" cy="292608"/>
          </a:xfrm>
          <a:prstGeom prst="rect">
            <a:avLst/>
          </a:prstGeom>
          <a:solidFill>
            <a:srgbClr val="D8EDD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85615" y="1911095"/>
            <a:ext cx="1024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7A3C"/>
                </a:solidFill>
              </a:rPr>
              <a:t>1698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1865376"/>
            <a:ext cx="1060704" cy="292608"/>
          </a:xfrm>
          <a:prstGeom prst="rect">
            <a:avLst/>
          </a:prstGeom>
          <a:solidFill>
            <a:srgbClr val="D8EDD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82896" y="1911095"/>
            <a:ext cx="1024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7A3C"/>
                </a:solidFill>
              </a:rPr>
              <a:t>2135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1865376"/>
            <a:ext cx="2889504" cy="292608"/>
          </a:xfrm>
          <a:prstGeom prst="rect">
            <a:avLst/>
          </a:prstGeom>
          <a:solidFill>
            <a:srgbClr val="F4F4F4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0176" y="1911095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</a:rPr>
              <a:t>0.988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194560"/>
            <a:ext cx="2340864" cy="292608"/>
          </a:xfrm>
          <a:prstGeom prst="rect">
            <a:avLst/>
          </a:prstGeom>
          <a:solidFill>
            <a:srgbClr val="FF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2240279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GA+Fuzzy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2194560"/>
            <a:ext cx="1060704" cy="292608"/>
          </a:xfrm>
          <a:prstGeom prst="rect">
            <a:avLst/>
          </a:prstGeom>
          <a:solidFill>
            <a:srgbClr val="FF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88336" y="2240279"/>
            <a:ext cx="1024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</a:rPr>
              <a:t>2426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39" y="2194560"/>
            <a:ext cx="1060704" cy="292608"/>
          </a:xfrm>
          <a:prstGeom prst="rect">
            <a:avLst/>
          </a:prstGeom>
          <a:solidFill>
            <a:srgbClr val="FF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85615" y="2240279"/>
            <a:ext cx="1024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</a:rPr>
              <a:t>2167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0" y="2194560"/>
            <a:ext cx="1060704" cy="292608"/>
          </a:xfrm>
          <a:prstGeom prst="rect">
            <a:avLst/>
          </a:prstGeom>
          <a:solidFill>
            <a:srgbClr val="FF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82896" y="2240279"/>
            <a:ext cx="1024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</a:rPr>
              <a:t>2635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2194560"/>
            <a:ext cx="2889504" cy="292608"/>
          </a:xfrm>
          <a:prstGeom prst="rect">
            <a:avLst/>
          </a:prstGeom>
          <a:solidFill>
            <a:srgbClr val="FF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80176" y="2240279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</a:rPr>
              <a:t>0.988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2523744"/>
            <a:ext cx="2340864" cy="292608"/>
          </a:xfrm>
          <a:prstGeom prst="rect">
            <a:avLst/>
          </a:prstGeom>
          <a:solidFill>
            <a:srgbClr val="F4F4F4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0896" y="2569463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ACO+Repair (fixed 50ms)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2523744"/>
            <a:ext cx="1060704" cy="292608"/>
          </a:xfrm>
          <a:prstGeom prst="rect">
            <a:avLst/>
          </a:prstGeom>
          <a:solidFill>
            <a:srgbClr val="D8EDD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88336" y="2569463"/>
            <a:ext cx="1024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7A3C"/>
                </a:solidFill>
              </a:rPr>
              <a:t>1988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9039" y="2523744"/>
            <a:ext cx="1060704" cy="292608"/>
          </a:xfrm>
          <a:prstGeom prst="rect">
            <a:avLst/>
          </a:prstGeom>
          <a:solidFill>
            <a:srgbClr val="D8EDD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85615" y="2569463"/>
            <a:ext cx="1024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7A3C"/>
                </a:solidFill>
              </a:rPr>
              <a:t>1698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46320" y="2523744"/>
            <a:ext cx="1060704" cy="292608"/>
          </a:xfrm>
          <a:prstGeom prst="rect">
            <a:avLst/>
          </a:prstGeom>
          <a:solidFill>
            <a:srgbClr val="D8EDD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82896" y="2569463"/>
            <a:ext cx="1024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7A3C"/>
                </a:solidFill>
              </a:rPr>
              <a:t>2135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0" y="2523744"/>
            <a:ext cx="2889504" cy="292608"/>
          </a:xfrm>
          <a:prstGeom prst="rect">
            <a:avLst/>
          </a:prstGeom>
          <a:solidFill>
            <a:srgbClr val="F4F4F4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80176" y="2569463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</a:rPr>
              <a:t>0.988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2852928"/>
            <a:ext cx="2340864" cy="29260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0896" y="2898648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Full Re-opt (NN)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51760" y="2852928"/>
            <a:ext cx="1060704" cy="29260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88336" y="2898648"/>
            <a:ext cx="1024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</a:rPr>
              <a:t>1666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39" y="2852928"/>
            <a:ext cx="1060704" cy="29260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85615" y="2898648"/>
            <a:ext cx="1024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</a:rPr>
              <a:t>1527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6320" y="2852928"/>
            <a:ext cx="1060704" cy="29260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82896" y="2898648"/>
            <a:ext cx="1024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</a:rPr>
              <a:t>1802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0" y="2852928"/>
            <a:ext cx="2889504" cy="29260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80176" y="2898648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</a:rPr>
              <a:t>0.900/0.856/0.809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3182111"/>
            <a:ext cx="2340864" cy="292608"/>
          </a:xfrm>
          <a:prstGeom prst="rect">
            <a:avLst/>
          </a:prstGeom>
          <a:solidFill>
            <a:srgbClr val="F8F8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0896" y="3227831"/>
            <a:ext cx="2304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Static (70 cust. only)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51760" y="3182111"/>
            <a:ext cx="1060704" cy="292608"/>
          </a:xfrm>
          <a:prstGeom prst="rect">
            <a:avLst/>
          </a:prstGeom>
          <a:solidFill>
            <a:srgbClr val="F8F8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88336" y="3227831"/>
            <a:ext cx="1024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</a:rPr>
              <a:t>1156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9039" y="3182111"/>
            <a:ext cx="1060704" cy="292608"/>
          </a:xfrm>
          <a:prstGeom prst="rect">
            <a:avLst/>
          </a:prstGeom>
          <a:solidFill>
            <a:srgbClr val="F8F8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85615" y="3227831"/>
            <a:ext cx="1024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</a:rPr>
              <a:t>1085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46320" y="3182111"/>
            <a:ext cx="1060704" cy="292608"/>
          </a:xfrm>
          <a:prstGeom prst="rect">
            <a:avLst/>
          </a:prstGeom>
          <a:solidFill>
            <a:srgbClr val="F8F8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82896" y="3227831"/>
            <a:ext cx="1024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</a:rPr>
              <a:t>1329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43600" y="3182111"/>
            <a:ext cx="2889504" cy="292608"/>
          </a:xfrm>
          <a:prstGeom prst="rect">
            <a:avLst/>
          </a:prstGeom>
          <a:solidFill>
            <a:srgbClr val="F8F8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80176" y="3227831"/>
            <a:ext cx="2852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</a:rPr>
              <a:t>1.000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4320" y="3566160"/>
            <a:ext cx="8412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</a:rPr>
              <a:t>Green = all ACO methods tie — budget policy is cost-neutral when starting from the same initial solution.  Static serves only ~70 customers — lower cost reflects fewer stops, not better routing.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4320" y="3785615"/>
            <a:ext cx="8412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</a:rPr>
              <a:t>Full Re-opt achieves low cost but disrupts 10–19% of assignments per event (stability 0.856–0.900).  All repair methods: 100% acceptance, 0.988 stability.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4059935"/>
            <a:ext cx="2743200" cy="512064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4114799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ACO beats GA
on cost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4572000"/>
            <a:ext cx="2743200" cy="914400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4048" y="4645151"/>
            <a:ext cx="252374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ACO+Fuzzy vs GA+Fuzzy:
C101: 1988 vs 2426 (−18%)
R101: 1698 vs 2167 (−22%)
RC101: 2135 vs 2635 (−19%)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18688" y="4059935"/>
            <a:ext cx="2743200" cy="51206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0128" y="4114799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Budget policy
cost-neutral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18688" y="4572000"/>
            <a:ext cx="2743200" cy="914400"/>
          </a:xfrm>
          <a:prstGeom prst="rect">
            <a:avLst/>
          </a:prstGeom>
          <a:solidFill>
            <a:srgbClr val="F0F4FF"/>
          </a:solidFill>
          <a:ln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328416" y="4645151"/>
            <a:ext cx="252374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All ACO methods: identical cost.
Fixed = Fuzzy = Threshold.
Budget allocates time, not quality.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63056" y="4059935"/>
            <a:ext cx="2743200" cy="512064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54496" y="4114799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Stability &amp;
acceptance robust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63056" y="4572000"/>
            <a:ext cx="2743200" cy="914400"/>
          </a:xfrm>
          <a:prstGeom prst="rect">
            <a:avLst/>
          </a:prstGeom>
          <a:solidFill>
            <a:srgbClr val="F0F4FF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72784" y="4645151"/>
            <a:ext cx="252374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All repair methods: 100%
acceptance, 0.988 stability
across all 3 instances.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5760" y="5047488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B275A"/>
                </a:solidFill>
              </a:rPr>
              <a:t>ACO constructor &gt; GA on cost (18–22%). All ACO budget variants tie — budget policy allocates time, not cost.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Ablation Study: What Each Component Contributes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Same ACO constructor · same event stream · 4 configurations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275A"/>
                </a:solidFill>
              </a:rPr>
              <a:t>Controlled experiment: each config uses seed=42 before its own ACO call, so all four start from the same initial random state. Cost differences isolate repair strategy.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72768"/>
            <a:ext cx="3621024" cy="347472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27632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Configuration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572768"/>
            <a:ext cx="1152144" cy="347472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39" y="162763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C101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572768"/>
            <a:ext cx="1152144" cy="347472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59" y="162763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R101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572768"/>
            <a:ext cx="1152144" cy="347472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79" y="162763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RC101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572768"/>
            <a:ext cx="1152144" cy="347472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62763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920240"/>
            <a:ext cx="3621024" cy="365760"/>
          </a:xfrm>
          <a:prstGeom prst="rect">
            <a:avLst/>
          </a:prstGeom>
          <a:solidFill>
            <a:srgbClr val="F4F4F4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1984248"/>
            <a:ext cx="3547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(1) ACO only — static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1920240"/>
            <a:ext cx="1152144" cy="365760"/>
          </a:xfrm>
          <a:prstGeom prst="rect">
            <a:avLst/>
          </a:prstGeom>
          <a:solidFill>
            <a:srgbClr val="F4F4F4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86783" y="1984248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1156.0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1920240"/>
            <a:ext cx="1152144" cy="365760"/>
          </a:xfrm>
          <a:prstGeom prst="rect">
            <a:avLst/>
          </a:prstGeom>
          <a:solidFill>
            <a:srgbClr val="F4F4F4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75503" y="1984248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1085.0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1920240"/>
            <a:ext cx="1152144" cy="365760"/>
          </a:xfrm>
          <a:prstGeom prst="rect">
            <a:avLst/>
          </a:prstGeom>
          <a:solidFill>
            <a:srgbClr val="F4F4F4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3" y="1984248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1328.6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1920240"/>
            <a:ext cx="1152144" cy="365760"/>
          </a:xfrm>
          <a:prstGeom prst="rect">
            <a:avLst/>
          </a:prstGeom>
          <a:solidFill>
            <a:srgbClr val="F4F4F4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52944" y="1984248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1.000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322576"/>
            <a:ext cx="3621024" cy="365760"/>
          </a:xfrm>
          <a:prstGeom prst="rect">
            <a:avLst/>
          </a:prstGeom>
          <a:solidFill>
            <a:srgbClr val="E8F0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" y="2386584"/>
            <a:ext cx="3547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(2) + Insertion, fixed, no 2-opt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2322576"/>
            <a:ext cx="1152144" cy="365760"/>
          </a:xfrm>
          <a:prstGeom prst="rect">
            <a:avLst/>
          </a:prstGeom>
          <a:solidFill>
            <a:srgbClr val="E8F0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86783" y="2386584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2138.7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2322576"/>
            <a:ext cx="1152144" cy="365760"/>
          </a:xfrm>
          <a:prstGeom prst="rect">
            <a:avLst/>
          </a:prstGeom>
          <a:solidFill>
            <a:srgbClr val="E8F0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75503" y="2386584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2005.3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59" y="2322576"/>
            <a:ext cx="1152144" cy="365760"/>
          </a:xfrm>
          <a:prstGeom prst="rect">
            <a:avLst/>
          </a:prstGeom>
          <a:solidFill>
            <a:srgbClr val="E8F0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64223" y="2386584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2449.4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2322576"/>
            <a:ext cx="1152144" cy="365760"/>
          </a:xfrm>
          <a:prstGeom prst="rect">
            <a:avLst/>
          </a:prstGeom>
          <a:solidFill>
            <a:srgbClr val="E8F0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2386584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1.000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724912"/>
            <a:ext cx="3621024" cy="365760"/>
          </a:xfrm>
          <a:prstGeom prst="rect">
            <a:avLst/>
          </a:prstGeom>
          <a:solidFill>
            <a:srgbClr val="D8EA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" y="2788920"/>
            <a:ext cx="3547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(3) + Fuzzy budget, no 2-opt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31920" y="2724912"/>
            <a:ext cx="1152144" cy="365760"/>
          </a:xfrm>
          <a:prstGeom prst="rect">
            <a:avLst/>
          </a:prstGeom>
          <a:solidFill>
            <a:srgbClr val="D8EA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86783" y="2788920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2138.7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0" y="2724912"/>
            <a:ext cx="1152144" cy="365760"/>
          </a:xfrm>
          <a:prstGeom prst="rect">
            <a:avLst/>
          </a:prstGeom>
          <a:solidFill>
            <a:srgbClr val="D8EA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5503" y="2788920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2005.3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59" y="2724912"/>
            <a:ext cx="1152144" cy="365760"/>
          </a:xfrm>
          <a:prstGeom prst="rect">
            <a:avLst/>
          </a:prstGeom>
          <a:solidFill>
            <a:srgbClr val="D8EA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64223" y="2788920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2449.4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2724912"/>
            <a:ext cx="1152144" cy="365760"/>
          </a:xfrm>
          <a:prstGeom prst="rect">
            <a:avLst/>
          </a:prstGeom>
          <a:solidFill>
            <a:srgbClr val="D8EA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2788920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1.000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127248"/>
            <a:ext cx="3621024" cy="365760"/>
          </a:xfrm>
          <a:prstGeom prst="rect">
            <a:avLst/>
          </a:prstGeom>
          <a:solidFill>
            <a:srgbClr val="D0EDD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" y="3191256"/>
            <a:ext cx="3547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7A3C"/>
                </a:solidFill>
              </a:rPr>
              <a:t>(4) + 2-opt + Relocate (FACI-DVRP)*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31920" y="3127248"/>
            <a:ext cx="1152144" cy="365760"/>
          </a:xfrm>
          <a:prstGeom prst="rect">
            <a:avLst/>
          </a:prstGeom>
          <a:solidFill>
            <a:srgbClr val="D0EDD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86783" y="3191256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7A3C"/>
                </a:solidFill>
              </a:rPr>
              <a:t>1988.4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3127248"/>
            <a:ext cx="1152144" cy="365760"/>
          </a:xfrm>
          <a:prstGeom prst="rect">
            <a:avLst/>
          </a:prstGeom>
          <a:solidFill>
            <a:srgbClr val="D0EDD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75503" y="3191256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7A3C"/>
                </a:solidFill>
              </a:rPr>
              <a:t>1697.5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59" y="3127248"/>
            <a:ext cx="1152144" cy="365760"/>
          </a:xfrm>
          <a:prstGeom prst="rect">
            <a:avLst/>
          </a:prstGeom>
          <a:solidFill>
            <a:srgbClr val="D0EDD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64223" y="3191256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7A3C"/>
                </a:solidFill>
              </a:rPr>
              <a:t>2135.2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79" y="3127248"/>
            <a:ext cx="1152144" cy="365760"/>
          </a:xfrm>
          <a:prstGeom prst="rect">
            <a:avLst/>
          </a:prstGeom>
          <a:solidFill>
            <a:srgbClr val="D0EDD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3191256"/>
            <a:ext cx="1078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7A3C"/>
                </a:solidFill>
              </a:rPr>
              <a:t>0.988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639312"/>
            <a:ext cx="164592" cy="402336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75488" y="3639312"/>
            <a:ext cx="8321040" cy="402336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3712463"/>
            <a:ext cx="8092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Config 1→2: Serving 30 new customers raises cost (+920 to +1121). Insertion alone achieves 100% acceptance.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187952"/>
            <a:ext cx="164592" cy="402336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75488" y="4187952"/>
            <a:ext cx="8321040" cy="402336"/>
          </a:xfrm>
          <a:prstGeom prst="rect">
            <a:avLst/>
          </a:prstGeom>
          <a:solidFill>
            <a:srgbClr val="F0F4FF"/>
          </a:solidFill>
          <a:ln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4261104"/>
            <a:ext cx="8092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Config 2→3: Fuzzy budget has ZERO cost effect without 2-opt (Δ=0 on all instances). Fuzzy is a policy tool, not a quality tool.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736592"/>
            <a:ext cx="164592" cy="402336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5488" y="4736592"/>
            <a:ext cx="8321040" cy="402336"/>
          </a:xfrm>
          <a:prstGeom prst="rect">
            <a:avLst/>
          </a:prstGeom>
          <a:solidFill>
            <a:srgbClr val="F0F4FF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4809744"/>
            <a:ext cx="8092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Config 3→4: 2-opt + cross-route relocate delivers ALL the cost improvement (−150 to −314). This is the sole quality-driving component.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138928"/>
            <a:ext cx="8595360" cy="201168"/>
          </a:xfrm>
          <a:prstGeom prst="rect">
            <a:avLst/>
          </a:prstGeom>
          <a:solidFill>
            <a:srgbClr val="F0F4FF"/>
          </a:solidFill>
          <a:ln>
            <a:solidFill>
              <a:srgbClr val="1B2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5166360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555555"/>
                </a:solidFill>
              </a:rPr>
              <a:t>* All configs use random.Random(42) as isolated ACO seed — same as main experiment. Ablation numbers match Table I exactly.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5358384"/>
            <a:ext cx="8595360" cy="329184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541324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Takeaway: Local search drives cost quality. Fuzzy budget controls allocation policy. Both serve different purposes.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Fuzzy Budget Control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At n=100 the ceiling is non-binding — that is a feature, not a flaw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8595360" cy="420624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97864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Ablation result: all ACO budget variants produce identical cost on n=100 instances. 2-opt local search is the sole cost-reducing component.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82496"/>
            <a:ext cx="4160520" cy="34747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737360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Why this is the correct 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29968"/>
            <a:ext cx="4160520" cy="2011680"/>
          </a:xfrm>
          <a:prstGeom prst="rect">
            <a:avLst/>
          </a:prstGeom>
          <a:solidFill>
            <a:srgbClr val="E8F8EC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" y="2121408"/>
            <a:ext cx="3913632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</a:rPr>
              <a:t>Repair completes in 2–4 ms per event.
Every budget tier (35 / 61 / 80 ms) is
far above that 2–4 ms actual work.
So the ceiling never binds — all tiers
give repair the same effective time.
Identical cost is not a coincidence:
it confirms the n=100 instances are
too small for the budget to matter yet.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880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275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19472" y="1682496"/>
            <a:ext cx="3950208" cy="347472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737360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Where fuzzy becomes load-bearing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19472" y="2029968"/>
            <a:ext cx="3950208" cy="2011680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7488" y="2121408"/>
            <a:ext cx="3749039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</a:rPr>
              <a:t>At n=500–1000 customers, repair
work scales as O(m²) per route.
Actual repair time rises into the
tens-of-ms range.
At that scale, giving 80ms to a
minor event wastes time; giving 35ms
to severe weather cuts off the search
too early.
Proportional allocation becomes the
binding architectural constraint.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169663"/>
            <a:ext cx="8595360" cy="329184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22452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Why fuzzy is still the right design choice: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572000"/>
            <a:ext cx="2743200" cy="53035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636008"/>
            <a:ext cx="25786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Proportional
by construction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102352"/>
            <a:ext cx="2743200" cy="548640"/>
          </a:xfrm>
          <a:prstGeom prst="rect">
            <a:avLst/>
          </a:prstGeom>
          <a:solidFill>
            <a:srgbClr val="F0F4FF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5157216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Scales continuously with severity.
No hard thresholds to tune.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18688" y="4572000"/>
            <a:ext cx="2743200" cy="530352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128" y="4636008"/>
            <a:ext cx="25786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Interpretable
policy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18688" y="5102352"/>
            <a:ext cx="2743200" cy="548640"/>
          </a:xfrm>
          <a:prstGeom prst="rect">
            <a:avLst/>
          </a:prstGeom>
          <a:solidFill>
            <a:srgbClr val="F0F4FF"/>
          </a:solidFill>
          <a:ln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28416" y="5157216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3 readable IF-THEN rules.
Auditable and tunable.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4572000"/>
            <a:ext cx="2743200" cy="530352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4636008"/>
            <a:ext cx="25786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Future-proof
architecture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3056" y="5102352"/>
            <a:ext cx="2743200" cy="548640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5157216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Drop in larger instances:
benefit appears automatically.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760720"/>
            <a:ext cx="8595360" cy="365760"/>
          </a:xfrm>
          <a:prstGeom prst="rect">
            <a:avLst/>
          </a:prstGeom>
          <a:solidFill>
            <a:srgbClr val="F0F4FF"/>
          </a:solidFill>
          <a:ln>
            <a:solidFill>
              <a:srgbClr val="1B2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81558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B275A"/>
                </a:solidFill>
              </a:rPr>
              <a:t>Take-away: fuzzy is a resource allocation policy, not a route optimizer. At n=100 it is overhead-free. At n=500+ it becomes the constraint that keeps latency proportional to event severity.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FF"/>
                </a:solidFill>
              </a:rPr>
              <a:t>FACI-DVRP: three CI techniques, one real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2743200" cy="47548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435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Fuzzy logic as
control policy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2743200" cy="960120"/>
          </a:xfrm>
          <a:prstGeom prst="rect">
            <a:avLst/>
          </a:prstGeom>
          <a:solidFill>
            <a:srgbClr val="F0F4FF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719072"/>
            <a:ext cx="252374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Maps severity → repair time ceiling.
35ms (simple) to 80ms (severe).
Proportional, interpretable, threshold-free.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8688" y="1170432"/>
            <a:ext cx="2743200" cy="475488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12435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ACO outperforms
GA on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645920"/>
            <a:ext cx="2743200" cy="960120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8416" y="1719072"/>
            <a:ext cx="252374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ACO+Fuzzy beats GA+Fuzzy by
18–22% across all 3 instances.
Better initial routes matter.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170432"/>
            <a:ext cx="2743200" cy="475488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2435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2-opt drives
cost reduction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1645920"/>
            <a:ext cx="2743200" cy="960120"/>
          </a:xfrm>
          <a:prstGeom prst="rect">
            <a:avLst/>
          </a:prstGeom>
          <a:solidFill>
            <a:srgbClr val="F0F4FF"/>
          </a:solidFill>
          <a:ln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1719072"/>
            <a:ext cx="252374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Budget policy is cost-neutral at n=100.
Local search is the sole quality driver.
Ablation confirms Δ=0 without 2-opt.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24912"/>
            <a:ext cx="859536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75A"/>
                </a:solidFill>
              </a:rPr>
              <a:t>Future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163824"/>
            <a:ext cx="2743200" cy="329184"/>
          </a:xfrm>
          <a:prstGeom prst="rect">
            <a:avLst/>
          </a:prstGeom>
          <a:solidFill>
            <a:srgbClr val="26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1868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Larger instances (n=500+)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493008"/>
            <a:ext cx="2743200" cy="804672"/>
          </a:xfrm>
          <a:prstGeom prst="rect">
            <a:avLst/>
          </a:prstGeom>
          <a:solidFill>
            <a:srgbClr val="F0F4FF"/>
          </a:solidFill>
          <a:ln>
            <a:solidFill>
              <a:srgbClr val="26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566160"/>
            <a:ext cx="25237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2-opt scales O(m²) — at that size repair takes tens of ms and the fuzzy ceiling becomes binding. Proportionality advantage will be empirically measurable.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18688" y="3163824"/>
            <a:ext cx="2743200" cy="329184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128" y="321868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All 56 Solomon instances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18688" y="3493008"/>
            <a:ext cx="2743200" cy="804672"/>
          </a:xfrm>
          <a:prstGeom prst="rect">
            <a:avLst/>
          </a:prstGeom>
          <a:solidFill>
            <a:srgbClr val="F0F4FF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8416" y="3566160"/>
            <a:ext cx="25237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Extend benchmarks across full C1/R1/RC1 families. Report mean ± std to confirm generalizability of ACO vs GA finding.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3056" y="3163824"/>
            <a:ext cx="2743200" cy="32918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4496" y="321868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Enforce time windows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3056" y="3493008"/>
            <a:ext cx="2743200" cy="804672"/>
          </a:xfrm>
          <a:prstGeom prst="rect">
            <a:avLst/>
          </a:prstGeom>
          <a:solidFill>
            <a:srgbClr val="F0F4FF"/>
          </a:solidFill>
          <a:ln>
            <a:solidFill>
              <a:srgbClr val="D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2784" y="3566160"/>
            <a:ext cx="25237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Add VRPTW feasibility checks inside repair loop. Budget ceiling will bind sooner, making the fuzzy tier gap significant.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078224"/>
            <a:ext cx="8595360" cy="512064"/>
          </a:xfrm>
          <a:prstGeom prst="rect">
            <a:avLst/>
          </a:prstGeom>
          <a:solidFill>
            <a:srgbClr val="1B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15137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Fuzzy logic is the right architecture for proportional resource allocation in real-time DVRP — and ACO builds better initial routes than GA under the same framework.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47000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6A00"/>
                </a:solidFill>
              </a:rPr>
              <a:t>Limitations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4974336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4400"/>
                </a:solidFill>
              </a:rPr>
              <a:t>· Budget ceiling non-binding at n=100 — proportionality not yet empirically demonstrated at this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5248656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84400"/>
                </a:solidFill>
              </a:rPr>
              <a:t>· 3 Solomon instances only — findings need validation across full benchmark suite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596128"/>
            <a:ext cx="85953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5650992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</a:rPr>
              <a:t>[1] Dorigo &amp; Gambardella, IEEE TEC, 1997  ·  [2] Solomon, Operations Research, 1987  ·  [3] Zadeh, Information &amp; Control, 1965  ·  [4] Pillac et al., EJOR, 2013  ·  [5] Psaraftis et al., Networks, 2016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